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Complaints by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2653"/>
              </a:solidFill>
              <a:effectLst/>
            </c:spPr>
          </c:dPt>
          <c:dPt>
            <c:idx val="1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bubble3D val="0"/>
            <c:spPr>
              <a:solidFill>
                <a:srgbClr val="8FA3BF"/>
              </a:solidFill>
              <a:effectLst/>
            </c:spPr>
          </c:dPt>
          <c:dPt>
            <c:idx val="4"/>
            <c:bubble3D val="0"/>
            <c:spPr>
              <a:solidFill>
                <a:srgbClr val="E9B44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Billing</c:v>
                </c:pt>
                <c:pt idx="1">
                  <c:v>Room</c:v>
                </c:pt>
                <c:pt idx="2">
                  <c:v>Noise</c:v>
                </c:pt>
                <c:pt idx="3">
                  <c:v>Service</c:v>
                </c:pt>
                <c:pt idx="4">
                  <c:v>Facilities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Complaints by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Complaints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D9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· Guest Complaint Handling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ph/cover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4213D">
              <a:alpha val="92000"/>
            </a:srgbClr>
          </a:solidFill>
          <a:ln/>
        </p:spPr>
      </p:sp>
      <p:pic>
        <p:nvPicPr>
          <p:cNvPr id="5" name="Image 1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286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MODULE 3 · LO 3.3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6974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Complaint Handling and Service Recovery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663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Programme · Year 2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329184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669280"/>
            <a:ext cx="329184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329184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prevent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complaint is feedback you can still act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509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659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7860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guest tells you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3002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unhappy guests leave without saying anything. A complaint gives you a chance.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8160" y="1554480"/>
            <a:ext cx="35509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2480" y="181051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928" y="19659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2480" y="257860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fix it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02480" y="2926080"/>
            <a:ext cx="3002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fair solution can turn an unhappy guest into a loyal one.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7680" y="1554480"/>
            <a:ext cx="35509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2000" y="181051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448" y="19659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2000" y="257860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hotel learns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82000" y="2926080"/>
            <a:ext cx="3002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logged complaint shows which process needs to change.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11109960" cy="1097280"/>
          </a:xfrm>
          <a:prstGeom prst="roundRect">
            <a:avLst>
              <a:gd name="adj" fmla="val 8333"/>
            </a:avLst>
          </a:prstGeom>
          <a:solidFill>
            <a:srgbClr val="14213D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ethics: be honest, fair, calm and respectful of guest privacy.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common sources of complaints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39112" cy="3383280"/>
          </a:xfrm>
          <a:prstGeom prst="roundRect">
            <a:avLst>
              <a:gd name="adj" fmla="val 5381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1051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659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7860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1490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Cleanliness, temperature, broken equipment, wrong room type.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16352" y="1554480"/>
            <a:ext cx="2039112" cy="3383280"/>
          </a:xfrm>
          <a:prstGeom prst="roundRect">
            <a:avLst>
              <a:gd name="adj" fmla="val 5381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3090672" y="181051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9659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90672" y="257860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090672" y="2926080"/>
            <a:ext cx="1490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Corridor, neighbours, construction, street.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84064" y="1554480"/>
            <a:ext cx="2039112" cy="3383280"/>
          </a:xfrm>
          <a:prstGeom prst="roundRect">
            <a:avLst>
              <a:gd name="adj" fmla="val 5381"/>
            </a:avLst>
          </a:prstGeom>
          <a:solidFill>
            <a:srgbClr val="F3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5358384" y="1810512"/>
            <a:ext cx="640080" cy="640080"/>
          </a:xfrm>
          <a:prstGeom prst="ellipse">
            <a:avLst/>
          </a:prstGeom>
          <a:solidFill>
            <a:srgbClr val="E0265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9659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58384" y="257860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358384" y="2926080"/>
            <a:ext cx="1490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charges, wrong rate, late check-out fee.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51776" y="1554480"/>
            <a:ext cx="2039112" cy="3383280"/>
          </a:xfrm>
          <a:prstGeom prst="roundRect">
            <a:avLst>
              <a:gd name="adj" fmla="val 5381"/>
            </a:avLst>
          </a:prstGeom>
          <a:solidFill>
            <a:srgbClr val="F3F4F6"/>
          </a:solidFill>
          <a:ln/>
        </p:spPr>
      </p:sp>
      <p:sp>
        <p:nvSpPr>
          <p:cNvPr id="20" name="Shape 15"/>
          <p:cNvSpPr/>
          <p:nvPr/>
        </p:nvSpPr>
        <p:spPr>
          <a:xfrm>
            <a:off x="7626096" y="181051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196596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26096" y="257860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626096" y="2926080"/>
            <a:ext cx="1490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time, staff attitude, missed requests.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619488" y="1554480"/>
            <a:ext cx="2039112" cy="3383280"/>
          </a:xfrm>
          <a:prstGeom prst="roundRect">
            <a:avLst>
              <a:gd name="adj" fmla="val 5381"/>
            </a:avLst>
          </a:prstGeom>
          <a:solidFill>
            <a:srgbClr val="F3F4F6"/>
          </a:solidFill>
          <a:ln/>
        </p:spPr>
      </p:sp>
      <p:sp>
        <p:nvSpPr>
          <p:cNvPr id="25" name="Shape 19"/>
          <p:cNvSpPr/>
          <p:nvPr/>
        </p:nvSpPr>
        <p:spPr>
          <a:xfrm>
            <a:off x="9893808" y="181051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196596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893808" y="257860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Facilities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9893808" y="2926080"/>
            <a:ext cx="1490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Restaurant, breakfast, spa, parking, Wi-Fi.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complaints often appear at check-out. Prepare the folio in advance to prevent them.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HEARD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371600" cy="1371600"/>
          </a:xfrm>
          <a:prstGeom prst="ellipse">
            <a:avLst/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fully. Do not interrupt or defend.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1554480"/>
            <a:ext cx="1371600" cy="1371600"/>
          </a:xfrm>
          <a:prstGeom prst="ellipse">
            <a:avLst/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Empathise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 understand how the guest feels.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1554480"/>
            <a:ext cx="1371600" cy="1371600"/>
          </a:xfrm>
          <a:prstGeom prst="ellipse">
            <a:avLst/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30352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Apologise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sorry for the experience, sincerely.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43800" y="1554480"/>
            <a:ext cx="1371600" cy="1371600"/>
          </a:xfrm>
          <a:prstGeom prst="ellipse">
            <a:avLst/>
          </a:prstGeom>
          <a:solidFill>
            <a:srgbClr val="E02653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4380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fix within your authority, or escalate.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84080" y="1554480"/>
            <a:ext cx="1371600" cy="1371600"/>
          </a:xfrm>
          <a:prstGeom prst="ellipse">
            <a:avLst/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78408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cause so it does not repeat.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calm, keep your voice low, use the guest's name and never take the complaint personally.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that help and words that harm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4406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am sorry about the noise. Let me solve this now.”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 is not our fault.”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“Thank you for telling me.”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 should have told us earlier.”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“Here is what I can do for you.”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 is the policy.”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will check and call you back by 16:00.”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don't know. Not my department.”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will pass this to my manager and follow up.”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“Calm down.”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 only what you can deliver, and deliver what you promise.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RECOVERY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decide what: the authority ladder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343400"/>
            <a:ext cx="2651760" cy="1645920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desk agent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Apologise. Correct small errors. Offer a small gesture such as a drink or late check-out within policy.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3703320"/>
            <a:ext cx="2651760" cy="2286000"/>
          </a:xfrm>
          <a:prstGeom prst="rect">
            <a:avLst/>
          </a:prstGeom>
          <a:solidFill>
            <a:srgbClr val="5C7A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7872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Duty manager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room changes, discounts and free services within set limits.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3063240"/>
            <a:ext cx="2651760" cy="292608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64224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office manager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3657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disputed charges, repeated problems and larger compensation.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2423160"/>
            <a:ext cx="2651760" cy="35661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0576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manager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301752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serious incidents, legal risks and exceptional compensation.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are set by hotel policy. Escalate early rather than promise what you cannot approve.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DOCUMENT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guest complaint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237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COMPLAINT REPORT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Ref. C-0148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667512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Oct 2026 · 08:20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1031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AND ROOM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 Smith · Room 322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432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944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 Smirnova, front desk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7432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944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67588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voices in the corridor at 02:00. Guest could not sleep.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14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TAKEN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3159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Apologised in person. Security informed. Room change offered; guest declined.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95604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discount on the night, approved by the duty manager.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394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9612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guest after check-out; remind night team about quiet hours.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3880" y="160020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838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19202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happened, not opinions.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83880" y="301752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838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29718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333756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you did and who approved it.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83880" y="443484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838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869680" y="43891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869680" y="47548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 owner and a date.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log: week 41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received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at the desk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265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1371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26296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min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resolve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6974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5943600" y="269748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6172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data. Billing is the largest category: review folio checks before check-out.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Disputed minibar charge at check-out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not use the minibar. Remove this charge, please. I have a flight.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2514600"/>
            <a:ext cx="6309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880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telling me. I understand you are in a hurry. Let me check right now.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3566160"/>
            <a:ext cx="6309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3675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9319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report shows one item missing, but it may be a posting error. I will call housekeeping.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0" y="4617720"/>
            <a:ext cx="6309360" cy="868680"/>
          </a:xfrm>
          <a:prstGeom prst="roundRect">
            <a:avLst>
              <a:gd name="adj" fmla="val 12632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00400" y="4727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4983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confirms the item was in place. Charge removed; folio reprinted and signed.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18320" y="1463040"/>
            <a:ext cx="2240280" cy="4023360"/>
          </a:xfrm>
          <a:prstGeom prst="roundRect">
            <a:avLst>
              <a:gd name="adj" fmla="val 4082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CHECK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the dialogue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2926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the dialogue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Apologise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the dialogue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4206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the dialogue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4572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4846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posting error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the desk: about 4 minutes. Cause logged: minibar item posted to the wrong room.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play cards and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5092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1907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745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8716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at night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300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in 322 reports corridor noise at 02:00. It is now check-out 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5092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4602480" y="171907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928" y="187452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2480" y="248716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check-out fee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02480" y="2834640"/>
            <a:ext cx="300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refuses to pay the fee; says nobody explained it at check-in.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7680" y="1463040"/>
            <a:ext cx="355092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382000" y="171907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448" y="187452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2000" y="248716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Dirty room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82000" y="2834640"/>
            <a:ext cx="300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found hair in the bathroom and wants a full refund of the night.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109960" cy="914400"/>
        </p:xfrm>
        <a:graphic>
          <a:graphicData uri="http://schemas.openxmlformats.org/drawingml/2006/table">
            <a:tbl>
              <a:tblPr/>
              <a:tblGrid>
                <a:gridCol w="562356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checklist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Listens without interrupting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empathy and apologises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 a solution within authority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Escalates correctly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the complaint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202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 first. Fix fast. Log the cause.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4864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guest finish; show you understand.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within your authority or escalate early.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2104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facts, actions and follow-up for every complaint.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JIP, Wikimedia Commons, CC BY-SA 4.0. All guests and figures in the samples are fictional.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Urban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function title(img, mod, ttl, sub, pills) {
    const s = pres.addSlide({ masterName: "DARK" });
    s.addImage({ path: C.PH + img, x: 0, y: 0, w: 13.33, h: 7.5 });
    s.addShape(pres.ShapeType.rect, { x: 0, y: 0, w: 13.33, h: 7.5, fill: { color: C.NAVY, transparency: 38 }, line: { type: "none" } });
    s.addShape(pres.ShapeType.rect, { x: 0, y: 0, w: 7.6, h: 7.5, fill: { color: C.NAVY, transparency: 8 }, line: { type: "none" } });
    s.addImage({ path: C.LOGO, x: 0.6, y: 0.55, w: 1.0, h: 1.0 });
    txt(s, mod.toUpperCase(), { x: 0.6, y: 2.5, w: 6.6, h: 0.35, fontSize: 14, bold: true, color: C.RED, charSpacing: 4 });
    txt(s, ttl, { x: 0.6, y: 2.95, w: 6.6, h: 1.9, fontFace: C.HF, fontSize: 36, bold: true, color: C.WHITE });
    txt(s, sub, { x: 0.6, y: 5.1, w: 6.6, h: 0.4, fontSize: 18, color: "D6DCE8" });
    pills.forEach((p, i) =&gt; s.addText(p, { x: 0.6, y: 5.8 + i * 0.4, w: 3.6, h: 0.32, fontFace: C.BF, fontSize: 12, color: C.WHITE, fill: { color: C.RED }, align: "center", margin: 0, isTextBox: true }));
    return s;
  }</dc:title>
  <dc:subject>PptxGenJS Presentation</dc:subject>
  <dc:creator>Urban College</dc:creator>
  <cp:lastModifiedBy>Urban College</cp:lastModifiedBy>
  <cp:revision>1</cp:revision>
  <dcterms:created xsi:type="dcterms:W3CDTF">2026-10-08T05:12:19Z</dcterms:created>
  <dcterms:modified xsi:type="dcterms:W3CDTF">2026-10-08T05:12:19Z</dcterms:modified>
</cp:coreProperties>
</file>