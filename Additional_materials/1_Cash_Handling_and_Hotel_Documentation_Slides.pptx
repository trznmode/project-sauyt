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Calibri"/>
              </a:rPr>
              <a:t>Payments by method, %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213D"/>
              </a:solidFill>
              <a:effectLst/>
            </c:spPr>
          </c:dPt>
          <c:dPt>
            <c:idx val="1"/>
            <c:bubble3D val="0"/>
            <c:spPr>
              <a:solidFill>
                <a:srgbClr val="2A9D8F"/>
              </a:solidFill>
              <a:effectLst/>
            </c:spPr>
          </c:dPt>
          <c:dPt>
            <c:idx val="2"/>
            <c:bubble3D val="0"/>
            <c:spPr>
              <a:solidFill>
                <a:srgbClr val="E9B44C"/>
              </a:solidFill>
              <a:effectLst/>
            </c:spPr>
          </c:dPt>
          <c:dPt>
            <c:idx val="3"/>
            <c:bubble3D val="0"/>
            <c:spPr>
              <a:solidFill>
                <a:srgbClr val="8FA3B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Card</c:v>
                </c:pt>
                <c:pt idx="1">
                  <c:v>Corporate bill</c:v>
                </c:pt>
                <c:pt idx="2">
                  <c:v>Cash</c:v>
                </c:pt>
                <c:pt idx="3">
                  <c:v>Online prepaid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40.5</c:v>
                </c:pt>
                <c:pt idx="1">
                  <c:v>26.5</c:v>
                </c:pt>
                <c:pt idx="2">
                  <c:v>19.5</c:v>
                </c:pt>
                <c:pt idx="3">
                  <c:v>13.5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Calibri"/>
              </a:rPr>
              <a:t>Revenue by department, thousand KZT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Accommodation</c:v>
                  </c:pt>
                  <c:pt idx="1">
                    <c:v>Restaurant</c:v>
                  </c:pt>
                  <c:pt idx="2">
                    <c:v>Extras</c:v>
                  </c:pt>
                  <c:pt idx="3">
                    <c:v>Minibar</c:v>
                  </c:pt>
                  <c:pt idx="4">
                    <c:v>Other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1176</c:v>
                </c:pt>
                <c:pt idx="1">
                  <c:v>214</c:v>
                </c:pt>
                <c:pt idx="2">
                  <c:v>128</c:v>
                </c:pt>
                <c:pt idx="3">
                  <c:v>46</c:v>
                </c:pt>
                <c:pt idx="4">
                  <c:v>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0"/>
        </c:scaling>
        <c:delete val="0"/>
        <c:axPos val="b"/>
        <c:majorGridlines>
          <c:spPr>
            <a:ln w="6350" cap="flat">
              <a:solidFill>
                <a:srgbClr val="D9DE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skills. Each is covered by a sample document or dashboard in this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oject-sauyt/18b28951-f5b9-5cdd-993c-58bea5f23092/scratchpad/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Office · Cash Handling and Hotel Documentation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oject-sauyt/18b28951-f5b9-5cdd-993c-58bea5f23092/scratchpad/ph/cash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13D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14213D">
              <a:alpha val="92000"/>
            </a:srgbClr>
          </a:solidFill>
          <a:ln/>
        </p:spPr>
      </p:sp>
      <p:pic>
        <p:nvPicPr>
          <p:cNvPr id="5" name="Image 1" descr="/tmp/claude-0/-home-user-project-sauyt/18b28951-f5b9-5cdd-993c-58bea5f23092/scratchpad/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914400" cy="9144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2860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OFFICE OPERATIONS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69748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Handling and Hotel Documentation</a:t>
            </a:r>
            <a:endParaRPr lang="en-US" sz="42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5720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Programme · Year 2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03520"/>
            <a:ext cx="3291840" cy="292608"/>
          </a:xfrm>
          <a:prstGeom prst="rect">
            <a:avLst/>
          </a:prstGeom>
          <a:solidFill>
            <a:srgbClr val="E026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669280"/>
            <a:ext cx="3291840" cy="292608"/>
          </a:xfrm>
          <a:prstGeom prst="rect">
            <a:avLst/>
          </a:prstGeom>
          <a:solidFill>
            <a:srgbClr val="E026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operations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035040"/>
            <a:ext cx="3291840" cy="292608"/>
          </a:xfrm>
          <a:prstGeom prst="rect">
            <a:avLst/>
          </a:prstGeom>
          <a:solidFill>
            <a:srgbClr val="E026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and reconciliation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skills of a front desk cashier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64792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20240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53288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803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complete and file every guest document.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50876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764792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192024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92240" y="253288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operations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8803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payments, advances and deposits; make refunds.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096512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25196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" y="486460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routine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521208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run and close the cash shift correctly.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17920" y="384048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096512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251960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492240" y="486460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Reconciliation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6492240" y="521208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cash drawer with the system to the last coin.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stage of the stay leaves a document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5074920"/>
            <a:ext cx="11109960" cy="868680"/>
          </a:xfrm>
          <a:prstGeom prst="roundRect">
            <a:avLst>
              <a:gd name="adj" fmla="val 10526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50749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document, no payment, no protection in a dispute.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1965960"/>
            <a:ext cx="10012680" cy="0"/>
          </a:xfrm>
          <a:prstGeom prst="line">
            <a:avLst/>
          </a:prstGeom>
          <a:noFill/>
          <a:ln w="38100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7270" y="1508760"/>
            <a:ext cx="914400" cy="914400"/>
          </a:xfrm>
          <a:prstGeom prst="ellipse">
            <a:avLst/>
          </a:prstGeom>
          <a:solidFill>
            <a:srgbClr val="14213D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9878" y="180136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560320"/>
            <a:ext cx="1760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971800"/>
            <a:ext cx="17602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3566160"/>
            <a:ext cx="16687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confirmation; guarantee or prepayment receipt.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868930" y="1508760"/>
            <a:ext cx="914400" cy="914400"/>
          </a:xfrm>
          <a:prstGeom prst="ellipse">
            <a:avLst/>
          </a:prstGeom>
          <a:solidFill>
            <a:srgbClr val="14213D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538" y="180136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400300" y="2560320"/>
            <a:ext cx="1760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2400300" y="2971800"/>
            <a:ext cx="17602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Arrival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2446020" y="3566160"/>
            <a:ext cx="16687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card; key card issue record.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720590" y="1508760"/>
            <a:ext cx="914400" cy="914400"/>
          </a:xfrm>
          <a:prstGeom prst="ellipse">
            <a:avLst/>
          </a:prstGeom>
          <a:solidFill>
            <a:srgbClr val="14213D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198" y="180136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251960" y="2560320"/>
            <a:ext cx="1760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4251960" y="2971800"/>
            <a:ext cx="17602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4297680" y="3566160"/>
            <a:ext cx="16687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folio; service orders; minibar and laundry slips.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572250" y="1508760"/>
            <a:ext cx="914400" cy="914400"/>
          </a:xfrm>
          <a:prstGeom prst="ellipse">
            <a:avLst/>
          </a:prstGeom>
          <a:solidFill>
            <a:srgbClr val="E02653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4858" y="1801368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103620" y="2560320"/>
            <a:ext cx="1760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19"/>
          <p:cNvSpPr txBox="1"/>
          <p:nvPr/>
        </p:nvSpPr>
        <p:spPr>
          <a:xfrm>
            <a:off x="6103620" y="2971800"/>
            <a:ext cx="17602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6149340" y="3566160"/>
            <a:ext cx="16687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receipt; card slip; deposit record.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8423910" y="1508760"/>
            <a:ext cx="914400" cy="914400"/>
          </a:xfrm>
          <a:prstGeom prst="ellipse">
            <a:avLst/>
          </a:prstGeom>
          <a:solidFill>
            <a:srgbClr val="14213D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6518" y="1801368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955280" y="2560320"/>
            <a:ext cx="1760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3"/>
          <p:cNvSpPr txBox="1"/>
          <p:nvPr/>
        </p:nvSpPr>
        <p:spPr>
          <a:xfrm>
            <a:off x="7955280" y="2971800"/>
            <a:ext cx="17602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Departure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8001000" y="3566160"/>
            <a:ext cx="16687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folio; closed registration card; key return.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10275570" y="1508760"/>
            <a:ext cx="914400" cy="914400"/>
          </a:xfrm>
          <a:prstGeom prst="ellipse">
            <a:avLst/>
          </a:prstGeom>
          <a:solidFill>
            <a:srgbClr val="14213D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8178" y="1801368"/>
            <a:ext cx="329184" cy="32918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806940" y="2560320"/>
            <a:ext cx="1760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5" name="Text 27"/>
          <p:cNvSpPr txBox="1"/>
          <p:nvPr/>
        </p:nvSpPr>
        <p:spPr>
          <a:xfrm>
            <a:off x="9806940" y="2971800"/>
            <a:ext cx="17602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close</a:t>
            </a:r>
            <a:endParaRPr lang="en-US" sz="1600" dirty="0"/>
          </a:p>
        </p:txBody>
      </p:sp>
      <p:sp>
        <p:nvSpPr>
          <p:cNvPr id="36" name="Text 28"/>
          <p:cNvSpPr txBox="1"/>
          <p:nvPr/>
        </p:nvSpPr>
        <p:spPr>
          <a:xfrm>
            <a:off x="9852660" y="3566160"/>
            <a:ext cx="16687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Z-report; shift handover log; incident reports.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DOCUMENT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registration card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9494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72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CARD No. 000214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Altyn Zhol Hotel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920240"/>
            <a:ext cx="6400800" cy="0"/>
          </a:xfrm>
          <a:prstGeom prst="line">
            <a:avLst/>
          </a:prstGeom>
          <a:noFill/>
          <a:ln w="1905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1031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042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Aigerim Akhmetova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21031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23042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Mar 1991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76148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NATIONALITY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9626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Kazakhstan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76148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DOCUMENT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29626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 [hidden]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4198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6210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+7 7•• ••• ••-••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34198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36210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Oct 2026 · 14:00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07822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2793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Oct 2026 · 12:00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407822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114800" y="42793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312 · Deluxe Twin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7365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937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 · 28,000 KZT / night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114800" y="47365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114800" y="4937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Online prepayment + card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22960" y="5577840"/>
            <a:ext cx="6400800" cy="0"/>
          </a:xfrm>
          <a:prstGeom prst="line">
            <a:avLst/>
          </a:prstGeom>
          <a:noFill/>
          <a:ln w="12700">
            <a:solidFill>
              <a:srgbClr val="14213D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822960" y="5715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signature: ______________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0" y="5715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by: E. Smirnova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09560" y="1600200"/>
            <a:ext cx="457200" cy="457200"/>
          </a:xfrm>
          <a:prstGeom prst="ellipse">
            <a:avLst/>
          </a:prstGeom>
          <a:solidFill>
            <a:srgbClr val="E0265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9095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8595360" y="15544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8595360" y="19202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details from the original document, not from memory.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909560" y="2971800"/>
            <a:ext cx="457200" cy="457200"/>
          </a:xfrm>
          <a:prstGeom prst="ellipse">
            <a:avLst/>
          </a:prstGeom>
          <a:solidFill>
            <a:srgbClr val="E0265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90956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8595360" y="29260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Dates and rate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8595360" y="32918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match the booking and the folio.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909560" y="4343400"/>
            <a:ext cx="457200" cy="457200"/>
          </a:xfrm>
          <a:prstGeom prst="ellipse">
            <a:avLst/>
          </a:prstGeom>
          <a:solidFill>
            <a:srgbClr val="E0265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90956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8595360" y="4297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8595360" y="46634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by the guest, with consent to data processing.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909560" y="5623560"/>
            <a:ext cx="3749040" cy="640080"/>
          </a:xfrm>
          <a:prstGeom prst="roundRect">
            <a:avLst>
              <a:gd name="adj" fmla="val 11429"/>
            </a:avLst>
          </a:prstGeom>
          <a:solidFill>
            <a:srgbClr val="F3F4F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092440" y="56235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guest. Fields vary by country.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OPERATIONS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operations, four documents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64792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20240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5328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8036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services already provided. Document: fiscal receipt and folio entry.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83280" y="15087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/>
        </p:spPr>
      </p:sp>
      <p:sp>
        <p:nvSpPr>
          <p:cNvPr id="10" name="Shape 7"/>
          <p:cNvSpPr/>
          <p:nvPr/>
        </p:nvSpPr>
        <p:spPr>
          <a:xfrm>
            <a:off x="3657600" y="1764792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8" y="192024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57600" y="25328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288036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in advance for a future stay. Document: prepayment receipt, applied at check-out.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17920" y="15087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/>
        </p:spPr>
      </p:sp>
      <p:sp>
        <p:nvSpPr>
          <p:cNvPr id="15" name="Shape 11"/>
          <p:cNvSpPr/>
          <p:nvPr/>
        </p:nvSpPr>
        <p:spPr>
          <a:xfrm>
            <a:off x="6492240" y="1764792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192024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92240" y="25328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Deposit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492240" y="288036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guarantee for property, not revenue. Document: card hold slip or signed receipt.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052560" y="15087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/>
        </p:spPr>
      </p:sp>
      <p:sp>
        <p:nvSpPr>
          <p:cNvPr id="20" name="Shape 15"/>
          <p:cNvSpPr/>
          <p:nvPr/>
        </p:nvSpPr>
        <p:spPr>
          <a:xfrm>
            <a:off x="9326880" y="1764792"/>
            <a:ext cx="640080" cy="640080"/>
          </a:xfrm>
          <a:prstGeom prst="ellipse">
            <a:avLst/>
          </a:prstGeom>
          <a:solidFill>
            <a:srgbClr val="E0265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328" y="1920240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26880" y="25328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Refund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9326880" y="288036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back to the guest. Document: refund receipt, guest request, manager signature.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48640" y="4709160"/>
            <a:ext cx="11109960" cy="1188720"/>
          </a:xfrm>
          <a:prstGeom prst="roundRect">
            <a:avLst>
              <a:gd name="adj" fmla="val 7692"/>
            </a:avLst>
          </a:prstGeom>
          <a:solidFill>
            <a:srgbClr val="14213D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102352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600200" y="4709160"/>
            <a:ext cx="9784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deposit is never part of shift revenue. Show it on its own line in every report.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DOCUMENT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fiscal receipt: five checks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480560" cy="4937760"/>
          </a:xfrm>
          <a:prstGeom prst="rect">
            <a:avLst/>
          </a:prstGeom>
          <a:solidFill>
            <a:srgbClr val="FBFAF8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554480"/>
            <a:ext cx="310896" cy="310896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554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ALTYN ZHOL HOTEL LLP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810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 [000000000000]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066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Cash register [serial no.]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2560320"/>
            <a:ext cx="310896" cy="310896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560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RECEIPT No. 000418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8163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07.10.2026 11:42 · Cashier E. 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3291840"/>
            <a:ext cx="310896" cy="310896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291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Accommodation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3291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56,000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5478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Restaurant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3547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14,600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8039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383280" y="38039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10,900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0599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Advance applied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383280" y="40599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-28,000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3708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TOTAL, KZT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383280" y="43708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53,500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" y="4892040"/>
            <a:ext cx="310896" cy="310896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4892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48920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 card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383280" y="4892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53,500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8368" y="5440680"/>
            <a:ext cx="310896" cy="310896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8368" y="5440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097280" y="54864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Fiscal sign [•••••••••]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840480" y="5349240"/>
            <a:ext cx="822960" cy="822960"/>
          </a:xfrm>
          <a:prstGeom prst="rect">
            <a:avLst/>
          </a:prstGeom>
          <a:solidFill>
            <a:srgbClr val="FFFFFF"/>
          </a:solidFill>
          <a:ln w="50800">
            <a:solidFill>
              <a:srgbClr val="1F293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0" y="1463040"/>
            <a:ext cx="457200" cy="457200"/>
          </a:xfrm>
          <a:prstGeom prst="ellipse">
            <a:avLst/>
          </a:prstGeom>
          <a:solidFill>
            <a:srgbClr val="E0265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4864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617220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Seller details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6172200" y="17830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tax number, register number.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486400" y="2423160"/>
            <a:ext cx="457200" cy="457200"/>
          </a:xfrm>
          <a:prstGeom prst="ellipse">
            <a:avLst/>
          </a:prstGeom>
          <a:solidFill>
            <a:srgbClr val="E0265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48640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6172200" y="2377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 and time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6172200" y="27432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the receipt to the shift and the folio.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486400" y="3383280"/>
            <a:ext cx="457200" cy="457200"/>
          </a:xfrm>
          <a:prstGeom prst="ellipse">
            <a:avLst/>
          </a:prstGeom>
          <a:solidFill>
            <a:srgbClr val="E02653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48640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6172200" y="3337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Items and total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6172200" y="3703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lines as the guest folio.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486400" y="4343400"/>
            <a:ext cx="457200" cy="457200"/>
          </a:xfrm>
          <a:prstGeom prst="ellipse">
            <a:avLst/>
          </a:prstGeom>
          <a:solidFill>
            <a:srgbClr val="E02653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548640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8" name="Text 46"/>
          <p:cNvSpPr txBox="1"/>
          <p:nvPr/>
        </p:nvSpPr>
        <p:spPr>
          <a:xfrm>
            <a:off x="617220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method</a:t>
            </a:r>
            <a:endParaRPr lang="en-US" sz="1800" dirty="0"/>
          </a:p>
        </p:txBody>
      </p:sp>
      <p:sp>
        <p:nvSpPr>
          <p:cNvPr id="49" name="Text 47"/>
          <p:cNvSpPr txBox="1"/>
          <p:nvPr/>
        </p:nvSpPr>
        <p:spPr>
          <a:xfrm>
            <a:off x="6172200" y="4663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and card are separate lines.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486400" y="5303520"/>
            <a:ext cx="457200" cy="457200"/>
          </a:xfrm>
          <a:prstGeom prst="ellipse">
            <a:avLst/>
          </a:prstGeom>
          <a:solidFill>
            <a:srgbClr val="E02653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548640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52" name="Text 50"/>
          <p:cNvSpPr txBox="1"/>
          <p:nvPr/>
        </p:nvSpPr>
        <p:spPr>
          <a:xfrm>
            <a:off x="617220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Fiscal sign and QR</a:t>
            </a:r>
            <a:endParaRPr lang="en-US" sz="1800" dirty="0"/>
          </a:p>
        </p:txBody>
      </p:sp>
      <p:sp>
        <p:nvSpPr>
          <p:cNvPr id="53" name="Text 51"/>
          <p:cNvSpPr txBox="1"/>
          <p:nvPr/>
        </p:nvSpPr>
        <p:spPr>
          <a:xfrm>
            <a:off x="6172200" y="5623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that the receipt is registered.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5486400" y="6263640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with placeholder details. Required fields depend on national law.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SHIFT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steps from handover to handover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1965960"/>
            <a:ext cx="10012680" cy="0"/>
          </a:xfrm>
          <a:prstGeom prst="line">
            <a:avLst/>
          </a:prstGeom>
          <a:noFill/>
          <a:ln w="38100">
            <a:solidFill>
              <a:srgbClr val="D9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7270" y="1508760"/>
            <a:ext cx="914400" cy="914400"/>
          </a:xfrm>
          <a:prstGeom prst="ellipse">
            <a:avLst/>
          </a:prstGeom>
          <a:solidFill>
            <a:srgbClr val="14213D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9878" y="18013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560320"/>
            <a:ext cx="1760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971800"/>
            <a:ext cx="17602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over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566160"/>
            <a:ext cx="16687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 · Count cash with the previous cashier; test the register and the card terminal.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868930" y="1508760"/>
            <a:ext cx="914400" cy="914400"/>
          </a:xfrm>
          <a:prstGeom prst="ellipse">
            <a:avLst/>
          </a:prstGeom>
          <a:solidFill>
            <a:srgbClr val="14213D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538" y="18013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400300" y="2560320"/>
            <a:ext cx="1760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2400300" y="2971800"/>
            <a:ext cx="17602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shift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446020" y="3566160"/>
            <a:ext cx="16687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08:15 · Open the shift on the register and log in to the PMS.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720590" y="1508760"/>
            <a:ext cx="914400" cy="914400"/>
          </a:xfrm>
          <a:prstGeom prst="ellipse">
            <a:avLst/>
          </a:prstGeom>
          <a:solidFill>
            <a:srgbClr val="14213D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198" y="18013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251960" y="2560320"/>
            <a:ext cx="1760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4251960" y="2971800"/>
            <a:ext cx="17602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Operate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297680" y="3566160"/>
            <a:ext cx="16687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day · Every payment: receipt and PMS posting. Refunds need approval.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572250" y="1508760"/>
            <a:ext cx="914400" cy="914400"/>
          </a:xfrm>
          <a:prstGeom prst="ellipse">
            <a:avLst/>
          </a:prstGeom>
          <a:solidFill>
            <a:srgbClr val="14213D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4858" y="180136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103620" y="2560320"/>
            <a:ext cx="1760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17"/>
          <p:cNvSpPr txBox="1"/>
          <p:nvPr/>
        </p:nvSpPr>
        <p:spPr>
          <a:xfrm>
            <a:off x="6103620" y="2971800"/>
            <a:ext cx="17602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cash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6149340" y="3566160"/>
            <a:ext cx="16687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limit · Move excess cash to the safe with a signed record.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8423910" y="1508760"/>
            <a:ext cx="914400" cy="914400"/>
          </a:xfrm>
          <a:prstGeom prst="ellipse">
            <a:avLst/>
          </a:prstGeom>
          <a:solidFill>
            <a:srgbClr val="E02653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6518" y="180136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955280" y="2560320"/>
            <a:ext cx="1760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1"/>
          <p:cNvSpPr txBox="1"/>
          <p:nvPr/>
        </p:nvSpPr>
        <p:spPr>
          <a:xfrm>
            <a:off x="7955280" y="2971800"/>
            <a:ext cx="17602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shift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8001000" y="3566160"/>
            <a:ext cx="16687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19:45 · Print the Z-report; compare it with the PMS; count cash.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10275570" y="1508760"/>
            <a:ext cx="914400" cy="914400"/>
          </a:xfrm>
          <a:prstGeom prst="ellipse">
            <a:avLst/>
          </a:prstGeom>
          <a:solidFill>
            <a:srgbClr val="14213D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8178" y="1801368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806940" y="2560320"/>
            <a:ext cx="1760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25"/>
          <p:cNvSpPr txBox="1"/>
          <p:nvPr/>
        </p:nvSpPr>
        <p:spPr>
          <a:xfrm>
            <a:off x="9806940" y="2971800"/>
            <a:ext cx="17602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 over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9852660" y="3566160"/>
            <a:ext cx="16687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20:00 · Complete the log; two signatures; safe keys.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548640" y="5257800"/>
            <a:ext cx="11109960" cy="777240"/>
          </a:xfrm>
          <a:prstGeom prst="roundRect">
            <a:avLst>
              <a:gd name="adj" fmla="val 11765"/>
            </a:avLst>
          </a:prstGeom>
          <a:solidFill>
            <a:srgbClr val="F3F4F6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822960" y="5257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times: shift 08:00–20:00. The cash limit follows hotel policy.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report · 07 Oct 2026 · 08:00–20:00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1,600,000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revenue, KZT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64992" y="137160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93592" y="1481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312,000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received, KZT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81344" y="137160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9944" y="1481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/ 22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409944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Arrivals / departures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97696" y="137160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26296" y="1481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9226296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issued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57200" y="269748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Chart 1" descr=""/>
          <p:cNvGraphicFramePr/>
          <p:nvPr/>
        </p:nvGraphicFramePr>
        <p:xfrm>
          <a:off x="5943600" y="2697480"/>
          <a:ext cx="5760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548640" y="6172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data. Both views add up to 1,600,000 KZT: if not, look for an error.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reconciliation: finding 2,500 KZT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0350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9202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movement during the shift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KZT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Opening float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received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+312,000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refunds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Moved to safe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-250,000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in drawer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Counted in drawer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44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-2,500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44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463040"/>
            <a:ext cx="4709160" cy="1737360"/>
          </a:xfrm>
          <a:prstGeom prst="roundRect">
            <a:avLst>
              <a:gd name="adj" fmla="val 5263"/>
            </a:avLst>
          </a:prstGeom>
          <a:solidFill>
            <a:srgbClr val="14213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22376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223760" y="19659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-2,500 KZT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223760" y="2743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2.5% of the expected 100,000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949440" y="3566160"/>
            <a:ext cx="457200" cy="457200"/>
          </a:xfrm>
          <a:prstGeom prst="ellipse">
            <a:avLst/>
          </a:prstGeom>
          <a:solidFill>
            <a:srgbClr val="E0265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9494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3520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Recount with a colleague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38862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949440" y="4251960"/>
            <a:ext cx="457200" cy="457200"/>
          </a:xfrm>
          <a:prstGeom prst="ellipse">
            <a:avLst/>
          </a:prstGeom>
          <a:solidFill>
            <a:srgbClr val="E0265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9494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635240" y="4206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Z-report with PMS cash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7635240" y="45720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949440" y="4937760"/>
            <a:ext cx="457200" cy="457200"/>
          </a:xfrm>
          <a:prstGeom prst="ellipse">
            <a:avLst/>
          </a:prstGeom>
          <a:solidFill>
            <a:srgbClr val="E0265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94944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635240" y="4892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for an operation of the same amount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635240" y="52578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949440" y="5623560"/>
            <a:ext cx="457200" cy="457200"/>
          </a:xfrm>
          <a:prstGeom prst="ellipse">
            <a:avLst/>
          </a:prstGeom>
          <a:solidFill>
            <a:srgbClr val="E02653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949440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635240" y="5577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cause found: write an incident report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635240" y="59436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9436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top up from your own money and never hide a shortage.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DOCUMENT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shift handover log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5895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07.10.2026 · 08:00–20:00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554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Handing over: E. Smirnova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65960"/>
          <a:ext cx="704088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737360"/>
                <a:gridCol w="17373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Handed over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in drawer, KZT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Z-report No.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Deposits held, pcs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folios, rooms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difference, KZT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-2,500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822960" y="475488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instructions: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215 late check-out to 15:00. Room 108 refund of overpayment to prepare. Incident report No. 7 filed for the cash difference.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5760720"/>
            <a:ext cx="7040880" cy="0"/>
          </a:xfrm>
          <a:prstGeom prst="line">
            <a:avLst/>
          </a:prstGeom>
          <a:noFill/>
          <a:ln w="12700">
            <a:solidFill>
              <a:srgbClr val="14213D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822960" y="5852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Handed over: ____________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5852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Received: ____________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503920" y="1600200"/>
            <a:ext cx="457200" cy="457200"/>
          </a:xfrm>
          <a:prstGeom prst="ellipse">
            <a:avLst/>
          </a:prstGeom>
          <a:solidFill>
            <a:srgbClr val="E0265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039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918972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Figures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189720" y="19202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count, not from memory.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503920" y="2971800"/>
            <a:ext cx="457200" cy="457200"/>
          </a:xfrm>
          <a:prstGeom prst="ellipse">
            <a:avLst/>
          </a:prstGeom>
          <a:solidFill>
            <a:srgbClr val="E0265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50392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918972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issues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9189720" y="32918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writing, never verbal only.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503920" y="4343400"/>
            <a:ext cx="457200" cy="457200"/>
          </a:xfrm>
          <a:prstGeom prst="ellipse">
            <a:avLst/>
          </a:prstGeom>
          <a:solidFill>
            <a:srgbClr val="E0265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50392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9189720" y="4297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Signatures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189720" y="46634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signatures or the shift is not accepted.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cash desk errors that cost money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50920" cy="2011680"/>
          </a:xfrm>
          <a:prstGeom prst="roundRect">
            <a:avLst>
              <a:gd name="adj" fmla="val 5455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19072"/>
            <a:ext cx="640080" cy="640080"/>
          </a:xfrm>
          <a:prstGeom prst="ellipse">
            <a:avLst/>
          </a:prstGeom>
          <a:solidFill>
            <a:srgbClr val="E0265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874520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487168"/>
            <a:ext cx="300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without receipt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34640"/>
            <a:ext cx="300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taken, no proof: a dispute with guest and tax authority.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50920" cy="2011680"/>
          </a:xfrm>
          <a:prstGeom prst="roundRect">
            <a:avLst>
              <a:gd name="adj" fmla="val 5455"/>
            </a:avLst>
          </a:prstGeom>
          <a:solidFill>
            <a:srgbClr val="F3F4F6"/>
          </a:solidFill>
          <a:ln/>
        </p:spPr>
      </p:sp>
      <p:sp>
        <p:nvSpPr>
          <p:cNvPr id="10" name="Shape 7"/>
          <p:cNvSpPr/>
          <p:nvPr/>
        </p:nvSpPr>
        <p:spPr>
          <a:xfrm>
            <a:off x="4602480" y="1719072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928" y="187452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02480" y="2487168"/>
            <a:ext cx="300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PMS does not match cash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602480" y="2834640"/>
            <a:ext cx="300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taken but not posted; the folio stays open.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07680" y="1463040"/>
            <a:ext cx="3550920" cy="2011680"/>
          </a:xfrm>
          <a:prstGeom prst="roundRect">
            <a:avLst>
              <a:gd name="adj" fmla="val 5455"/>
            </a:avLst>
          </a:prstGeom>
          <a:solidFill>
            <a:srgbClr val="F3F4F6"/>
          </a:solidFill>
          <a:ln/>
        </p:spPr>
      </p:sp>
      <p:sp>
        <p:nvSpPr>
          <p:cNvPr id="15" name="Shape 11"/>
          <p:cNvSpPr/>
          <p:nvPr/>
        </p:nvSpPr>
        <p:spPr>
          <a:xfrm>
            <a:off x="8382000" y="1719072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448" y="187452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82000" y="2487168"/>
            <a:ext cx="300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without a count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82000" y="2834640"/>
            <a:ext cx="300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shortage falls on the cashier.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3703320"/>
            <a:ext cx="3550920" cy="2011680"/>
          </a:xfrm>
          <a:prstGeom prst="roundRect">
            <a:avLst>
              <a:gd name="adj" fmla="val 5455"/>
            </a:avLst>
          </a:prstGeom>
          <a:solidFill>
            <a:srgbClr val="F3F4F6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3959352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4114800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22960" y="4727448"/>
            <a:ext cx="300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login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5074920"/>
            <a:ext cx="300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proof of who took the money.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328160" y="3703320"/>
            <a:ext cx="3550920" cy="2011680"/>
          </a:xfrm>
          <a:prstGeom prst="roundRect">
            <a:avLst>
              <a:gd name="adj" fmla="val 5455"/>
            </a:avLst>
          </a:prstGeom>
          <a:solidFill>
            <a:srgbClr val="F3F4F6"/>
          </a:solidFill>
          <a:ln/>
        </p:spPr>
      </p:sp>
      <p:sp>
        <p:nvSpPr>
          <p:cNvPr id="25" name="Shape 19"/>
          <p:cNvSpPr/>
          <p:nvPr/>
        </p:nvSpPr>
        <p:spPr>
          <a:xfrm>
            <a:off x="4602480" y="3959352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7928" y="4114800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02480" y="4727448"/>
            <a:ext cx="300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 not applied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602480" y="5074920"/>
            <a:ext cx="300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pays twice, or the hotel loses revenue.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107680" y="3703320"/>
            <a:ext cx="3550920" cy="2011680"/>
          </a:xfrm>
          <a:prstGeom prst="roundRect">
            <a:avLst>
              <a:gd name="adj" fmla="val 5455"/>
            </a:avLst>
          </a:prstGeom>
          <a:solidFill>
            <a:srgbClr val="F3F4F6"/>
          </a:solidFill>
          <a:ln/>
        </p:spPr>
      </p:sp>
      <p:sp>
        <p:nvSpPr>
          <p:cNvPr id="30" name="Shape 23"/>
          <p:cNvSpPr/>
          <p:nvPr/>
        </p:nvSpPr>
        <p:spPr>
          <a:xfrm>
            <a:off x="8382000" y="3959352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7448" y="4114800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82000" y="4727448"/>
            <a:ext cx="300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left open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382000" y="5074920"/>
            <a:ext cx="300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day sales land in yesterday's report.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Prevention: a document at the moment of the operation.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oject-sauyt/18b28951-f5b9-5cdd-993c-58bea5f23092/scratchpad/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92024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every operation. Count every shift.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548640" y="37490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D2C4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3931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3891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file each one: card, folio, receipt, log.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97680" y="37490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D2C4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0" y="3931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43891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 has a receipt and a PMS posting.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046720" y="37490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D2C4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321040" y="3931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Reconciliation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43891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equals counted, or an incident report.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Photo: Mrkunmee, Wikimedia Commons, CC BY-SA 4.0. All hotels, guests and figures are fictional.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Urban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async function title(img, mod, ttl, sub, pills) {
    const s = pres.addSlide({ masterName: "DARK" });
    s.addImage({ path: C.PH + img, x: 0, y: 0, w: 13.33, h: 7.5 });
    s.addShape(pres.ShapeType.rect, { x: 0, y: 0, w: 13.33, h: 7.5, fill: { color: C.NAVY, transparency: 38 }, line: { type: "none" } });
    s.addShape(pres.ShapeType.rect, { x: 0, y: 0, w: 7.6, h: 7.5, fill: { color: C.NAVY, transparency: 8 }, line: { type: "none" } });
    s.addImage({ path: C.LOGO, x: 0.6, y: 0.55, w: 1.0, h: 1.0 });
    txt(s, mod.toUpperCase(), { x: 0.6, y: 2.5, w: 6.6, h: 0.35, fontSize: 14, bold: true, color: C.RED, charSpacing: 4 });
    txt(s, ttl, { x: 0.6, y: 2.95, w: 6.6, h: 1.9, fontFace: C.HF, fontSize: 42, bold: true, color: C.WHITE });
    txt(s, sub, { x: 0.6, y: 5.0, w: 6.6, h: 0.4, fontSize: 18, color: "D6DCE8" });
    pills.forEach((p, i) =&gt; s.addText(p, { x: 0.6, y: 5.8 + i * 0.4, w: 3.6, h: 0.32, fontFace: C.BF, fontSize: 12, color: C.WHITE, fill: { color: C.RED }, align: "center", margin: 0, isTextBox: true }));
    return s;
  }</dc:title>
  <dc:subject>PptxGenJS Presentation</dc:subject>
  <dc:creator>Urban College</dc:creator>
  <cp:lastModifiedBy>Urban College</cp:lastModifiedBy>
  <cp:revision>1</cp:revision>
  <dcterms:created xsi:type="dcterms:W3CDTF">2026-10-08T05:10:15Z</dcterms:created>
  <dcterms:modified xsi:type="dcterms:W3CDTF">2026-10-08T05:10:15Z</dcterms:modified>
</cp:coreProperties>
</file>