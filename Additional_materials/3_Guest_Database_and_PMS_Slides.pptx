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Guests by number of stays, 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Guests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A3BF"/>
              </a:solidFill>
              <a:effectLst/>
            </c:spPr>
          </c:dPt>
          <c:dPt>
            <c:idx val="1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bubble3D val="0"/>
            <c:spPr>
              <a:solidFill>
                <a:srgbClr val="E0265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First stay</c:v>
                </c:pt>
                <c:pt idx="1">
                  <c:v>2–3 stays</c:v>
                </c:pt>
                <c:pt idx="2">
                  <c:v>4+ stays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Profile completeness by field,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Name</c:v>
                  </c:pt>
                  <c:pt idx="1">
                    <c:v>Phone</c:v>
                  </c:pt>
                  <c:pt idx="2">
                    <c:v>Email</c:v>
                  </c:pt>
                  <c:pt idx="3">
                    <c:v>Nationality</c:v>
                  </c:pt>
                  <c:pt idx="4">
                    <c:v>Preferences</c:v>
                  </c:pt>
                  <c:pt idx="5">
                    <c:v>Consent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97</c:v>
                </c:pt>
                <c:pt idx="2">
                  <c:v>91</c:v>
                </c:pt>
                <c:pt idx="3">
                  <c:v>88</c:v>
                </c:pt>
                <c:pt idx="4">
                  <c:v>54</c:v>
                </c:pt>
                <c:pt idx="5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0"/>
        <c:axPos val="b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· Guest Database and PMS Records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ph/cover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4213D">
              <a:alpha val="92000"/>
            </a:srgbClr>
          </a:solidFill>
          <a:ln/>
        </p:spPr>
      </p:sp>
      <p:pic>
        <p:nvPicPr>
          <p:cNvPr id="5" name="Image 1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86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MODULE 3 · LO 3.2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97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Database and PMS Records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63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Programme · Year 2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records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6928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guest profiles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booking to deletion: five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10012680" cy="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436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the data the hotel needs, with the guest's knowledge.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4428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70632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770632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16352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spelling, contacts and ID against the original.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46420" y="1508760"/>
            <a:ext cx="914400" cy="914400"/>
          </a:xfrm>
          <a:prstGeom prst="ellipse">
            <a:avLst/>
          </a:prstGeom>
          <a:solidFill>
            <a:srgbClr val="E02653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92624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992624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038344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 per guest in the PMS. Access by role.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868412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18013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14616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7214616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260336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service; send offers only with consent.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10090404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18013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36608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9436608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482328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or delete according to the privacy policy.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guest record is only as good as the person who typed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guest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Akhmetova, Aigerim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304288"/>
            <a:ext cx="1737360" cy="256032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GUEST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26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G-004281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926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(7 nights)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STAY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05–07 Oct 2026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238,400 KZT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Russian, English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791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992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a.•••••@••••.com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4791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CONSENT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4992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05 Oct 2026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544068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Preferences: high floor, quiet room, feather-free bedding. Late check-out to 14:00 granted.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55448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language and contacts, spelled correctly.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27432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history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room type, spend and payments.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393192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Preferences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4251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the next stay, never sensitive guesses.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15200" y="512064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152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00100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001000" y="5440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agreed to what, and when.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SCREEN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Departures list: what each status means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2743200"/>
          </a:xfrm>
          <a:prstGeom prst="roundRect">
            <a:avLst>
              <a:gd name="adj" fmla="val 2667"/>
            </a:avLst>
          </a:prstGeom>
          <a:solidFill>
            <a:srgbClr val="0F1A30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1109960" cy="411480"/>
          </a:xfrm>
          <a:prstGeom prst="rect">
            <a:avLst/>
          </a:prstGeom>
          <a:solidFill>
            <a:srgbClr val="1D2C4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36192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36192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· Departures · Wed 07 Oct 2026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744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1828800"/>
                <a:gridCol w="1645920"/>
                <a:gridCol w="173736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KZT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Brown, J.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FD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Akhmetova, 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FD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C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feedback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Nurlan, 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C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Folio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Smith, 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7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7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 FLOW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800600"/>
            <a:ext cx="1965960" cy="777240"/>
          </a:xfrm>
          <a:prstGeom prst="chevron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800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23160" y="4800600"/>
            <a:ext cx="1965960" cy="777240"/>
          </a:xfrm>
          <a:prstGeom prst="chevron">
            <a:avLst/>
          </a:prstGeom>
          <a:solidFill>
            <a:srgbClr val="E026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88920" y="4800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97680" y="4800600"/>
            <a:ext cx="1965960" cy="777240"/>
          </a:xfrm>
          <a:prstGeom prst="chevron">
            <a:avLst/>
          </a:prstGeom>
          <a:solidFill>
            <a:srgbClr val="E9B4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4800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 Dirty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4800600"/>
            <a:ext cx="1965960" cy="777240"/>
          </a:xfrm>
          <a:prstGeom prst="chevron">
            <a:avLst/>
          </a:prstGeom>
          <a:solidFill>
            <a:srgbClr val="8FA3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37960" y="4800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4800600"/>
            <a:ext cx="1965960" cy="777240"/>
          </a:xfrm>
          <a:prstGeom prst="chevron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4800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921240" y="4800600"/>
            <a:ext cx="1965960" cy="777240"/>
          </a:xfrm>
          <a:prstGeom prst="chevron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287000" y="4800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 Clean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screen, fictional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entry errors and the correct record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617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2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akhmetova aigerim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Akhmetova, Aigerim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2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aigerim@gmial.com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aigerim@gmail.com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2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87771234567 / +7 777 123 45 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+7 777 123 45 67 (one format)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2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 / Kazakh / Kazakhstan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Kazakhstan (from the list)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2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guest!!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Prefers quiet room; asked for late check-out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02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profiles for one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merged 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must be factual and polite. The guest has the right to see what you write.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database health: October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guests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9944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with 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26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to merge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6974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943600" y="269748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6172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data. Lowest completeness: preferences (54%). Ask at check-out.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data: what to do and what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46304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what the hotel needs.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card numbers in profile notes.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24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marketing consent explicitly.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24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IDs on a personal phone.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467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data only with authorised staff.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467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guest details with callers.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68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errors when the guest asks.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968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sensitive guesses, such as health or religion.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90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screen when you leave the desk.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590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printed folios at the desk.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41848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63040" y="5486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hotel privacy policy and national data protection law.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check-out to the night audit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10012680" cy="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436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Check-outs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departures closed in the PMS with zero balance.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4428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70632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770632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postings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16352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Restaurant, spa and minibar charges posted to the right folios.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46420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1801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92624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992624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038344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data and preferences saved for each departed guest.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868412" y="1508760"/>
            <a:ext cx="914400" cy="914400"/>
          </a:xfrm>
          <a:prstGeom prst="ellipse">
            <a:avLst/>
          </a:prstGeom>
          <a:solidFill>
            <a:srgbClr val="E02653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18013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14616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7214616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audit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260336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closed; room revenue posted; balances checked.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10090404" y="150876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18013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36608" y="25603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9436608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482328" y="35661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Departures, revenue, cash and occupancy reports saved.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an open folio remains after the audit, the next day's report will be wrong.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profiles for one guest: merging steps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743200"/>
                <a:gridCol w="2286000"/>
                <a:gridCol w="2514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G-003917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Smith, 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stay · 12 Jun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+7 701 000 00 00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G-004302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Smith, Lena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stay · 05 Oct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+7 701 000 00 00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lena.smith@mail.com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3383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identity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749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phone and name; check with the guest at the desk.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160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master record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4526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profile with the most complete data and history.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4937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stays and notes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5303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history; keep the latest contact details.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the duplicate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6080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merge in the audit log with date and name.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records make personal service possible.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data, spelled correctly, with consent.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 per guest; fix duplicates and gaps.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first; no card numbers in notes.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Basile Morin, Wikimedia Commons, CC BY-SA 4.0. All guests and figures in the samples are fictional.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Urban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function title(img, mod, ttl, sub, pills) {
    const s = pres.addSlide({ masterName: "DARK" });
    s.addImage({ path: C.PH + img, x: 0, y: 0, w: 13.33, h: 7.5 });
    s.addShape(pres.ShapeType.rect, { x: 0, y: 0, w: 13.33, h: 7.5, fill: { color: C.NAVY, transparency: 38 }, line: { type: "none" } });
    s.addShape(pres.ShapeType.rect, { x: 0, y: 0, w: 7.6, h: 7.5, fill: { color: C.NAVY, transparency: 8 }, line: { type: "none" } });
    s.addImage({ path: C.LOGO, x: 0.6, y: 0.55, w: 1.0, h: 1.0 });
    txt(s, mod.toUpperCase(), { x: 0.6, y: 2.5, w: 6.6, h: 0.35, fontSize: 14, bold: true, color: C.RED, charSpacing: 4 });
    txt(s, ttl, { x: 0.6, y: 2.95, w: 6.6, h: 1.9, fontFace: C.HF, fontSize: 36, bold: true, color: C.WHITE });
    txt(s, sub, { x: 0.6, y: 5.1, w: 6.6, h: 0.4, fontSize: 18, color: "D6DCE8" });
    pills.forEach((p, i) =&gt; s.addText(p, { x: 0.6, y: 5.8 + i * 0.4, w: 3.6, h: 0.32, fontFace: C.BF, fontSize: 12, color: C.WHITE, fill: { color: C.RED }, align: "center", margin: 0, isTextBox: true }));
    return s;
  }</dc:title>
  <dc:subject>PptxGenJS Presentation</dc:subject>
  <dc:creator>Urban College</dc:creator>
  <cp:lastModifiedBy>Urban College</cp:lastModifiedBy>
  <cp:revision>1</cp:revision>
  <dcterms:created xsi:type="dcterms:W3CDTF">2026-10-08T05:12:19Z</dcterms:created>
  <dcterms:modified xsi:type="dcterms:W3CDTF">2026-10-08T05:12:19Z</dcterms:modified>
</cp:coreProperties>
</file>