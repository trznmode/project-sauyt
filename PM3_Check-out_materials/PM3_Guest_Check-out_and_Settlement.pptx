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Share of departures,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bubble3D val="0"/>
            <c:spPr>
              <a:solidFill>
                <a:srgbClr val="E02653"/>
              </a:solidFill>
              <a:effectLst/>
            </c:spPr>
          </c:dPt>
          <c:dPt>
            <c:idx val="2"/>
            <c:bubble3D val="0"/>
            <c:spPr>
              <a:solidFill>
                <a:srgbClr val="8FA3BF"/>
              </a:solidFill>
              <a:effectLst/>
            </c:spPr>
          </c:dPt>
          <c:dPt>
            <c:idx val="3"/>
            <c:bubble3D val="0"/>
            <c:spPr>
              <a:solidFill>
                <a:srgbClr val="E9B4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Bank card</c:v>
                </c:pt>
                <c:pt idx="1">
                  <c:v>Corporate bill</c:v>
                </c:pt>
                <c:pt idx="2">
                  <c:v>Cash</c:v>
                </c:pt>
                <c:pt idx="3">
                  <c:v>Prepaid / OTA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22</c:v>
                </c:pt>
                <c:pt idx="2">
                  <c:v>18</c:v>
                </c:pt>
                <c:pt idx="3">
                  <c:v>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Departures by hour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Departures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7</c:v>
                </c:pt>
                <c:pt idx="4">
                  <c:v>8</c:v>
                </c:pt>
                <c:pt idx="5">
                  <c:v>11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module covers the final stage of the guest cycle: check-out, settlement and complaint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steps. Step 3 is highlighted because money and documents meet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Photo: Carlton Hotel lobby. Timings are an example; adapt to the hotel's own check-out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document, fictional hotel and guest. Amounts are illustrative: 81,500 − 28,000 = 53,500.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guest profile. Remind students about consent and data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log. Compensation limits depend on hotel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3 · Guest Check-out and Settlement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ph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4213D">
              <a:alpha val="92000"/>
            </a:srgbClr>
          </a:solidFill>
          <a:ln/>
        </p:spPr>
      </p:sp>
      <p:pic>
        <p:nvPicPr>
          <p:cNvPr id="5" name="Image 1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MODULE 3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Check-out and Settlement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Operations · Hospitality Programme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310896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3.1 Documentation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310896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3.2 PMS &amp; guest database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3108960" cy="292608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3.3 Complaints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learning outcomes, one work placement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154680" y="178308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19293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check-out documents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folio, invoice, receipt and departure checklist.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903720" y="178308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9293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the departure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PMS and the guest database accurately.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667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3.3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10652760" y="178308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19293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complaints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apologise, resolve and log in a professional way.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60527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5596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placement: apply each outcome at the front desk and record it in the placement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check-out cycle in six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1001268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 notice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confirms departure; late check-out request is checked.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34640" y="169164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23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42316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Folio review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46888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every charge with the guest.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09160" y="1691640"/>
            <a:ext cx="914400" cy="914400"/>
          </a:xfrm>
          <a:prstGeom prst="ellipse">
            <a:avLst/>
          </a:prstGeom>
          <a:solidFill>
            <a:srgbClr val="E02653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9842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2976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34340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payment, release the deposit, issue the receipt.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83680" y="169164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984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722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17220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and room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1792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key cards; housekeeping checks the room.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458200" y="169164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19842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467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update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09244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guest out; room becomes Vacant Dirty.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332720" y="1691640"/>
            <a:ext cx="914400" cy="914400"/>
          </a:xfrm>
          <a:prstGeom prst="ellipse">
            <a:avLst/>
          </a:prstGeom>
          <a:solidFill>
            <a:srgbClr val="14213D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28" y="19842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9212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99212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Farewell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966960" y="3749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guest and invite feedback.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5257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2296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" y="5641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5 min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310896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desk for a standard departure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63640" y="5257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53796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6537960" y="5641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document, no departure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departure day at the front desk</a:t>
            </a:r>
            <a:endParaRPr lang="en-US" sz="3000" dirty="0"/>
          </a:p>
        </p:txBody>
      </p:sp>
      <p:pic>
        <p:nvPicPr>
          <p:cNvPr id="4" name="Image 0" descr="/tmp/claude-0/-home-user-project-sauyt/18b28951-f5b9-5cdd-993c-58bea5f23092/scratchpad/ph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20640" cy="4928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52160"/>
            <a:ext cx="5120640" cy="539496"/>
          </a:xfrm>
          <a:prstGeom prst="rect">
            <a:avLst/>
          </a:prstGeom>
          <a:solidFill>
            <a:srgbClr val="14213D">
              <a:alpha val="80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852160"/>
            <a:ext cx="4754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and reception, Carlton Hotel Singapore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0" cy="416052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664208"/>
            <a:ext cx="274320" cy="27432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06:00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58191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departure list and the folios ready to print.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532888"/>
            <a:ext cx="274320" cy="27432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08:00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45059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begins: one agent on settlement, one on keys and luggage.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3401568"/>
            <a:ext cx="274320" cy="274320"/>
          </a:xfrm>
          <a:prstGeom prst="ellipse">
            <a:avLst/>
          </a:prstGeom>
          <a:solidFill>
            <a:srgbClr val="E0265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31927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volume. Confirm late check-out requests with the duty manager.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4270248"/>
            <a:ext cx="274320" cy="27432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12:00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418795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check-out time. Late check-out charges follow hotel policy.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63640" y="5138928"/>
            <a:ext cx="274320" cy="27432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14:00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505663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departures closed in the PMS; rooms released to housekeeping.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3.1 · 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folio: check every line before printing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ALTYN ZHOL HOTEL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FOLIO / INVOICE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305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Aigerim Akhmetova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1305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· Deluxe Twin · BB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87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Oct 2026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587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Oct 2026 · 2 nights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26080"/>
          <a:ext cx="6309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84048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Amount, KZT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charge · Deluxe Twin 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charge · Deluxe Twin 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· dinner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Laundry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 · 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charges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 (online)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· bank card (POS)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22960" y="59893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hold of 10,000 KZT released at check-out.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818120" y="146304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18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room match the registration card.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8120" y="269748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181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dates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and rate match the booking.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818120" y="393192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818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is confirmed by the guest.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818120" y="5166360"/>
            <a:ext cx="457200" cy="457200"/>
          </a:xfrm>
          <a:prstGeom prst="ellipse">
            <a:avLst/>
          </a:prstGeom>
          <a:solidFill>
            <a:srgbClr val="E0265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8181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50392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50392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Prepayments and deposits are applied.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3.1 · 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check-out document pack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E026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folio / invoice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53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charges, signed or confirmed by the guest.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78308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476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receipt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53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or card receipt matching the folio total.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78308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476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card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953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actual departure date and time.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card return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30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cards issued and returned.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2511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Minibar and damage report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330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check before the folio is closed.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32511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form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330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to every guest at the desk.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3.1 · SETTLEMENT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methods at check-out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 for a 60-room hotel.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0" y="1463040"/>
            <a:ext cx="5989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709928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470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card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Authorise, hand over the slip, release the deposit hold.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0" y="2651760"/>
            <a:ext cx="5989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97880" y="2898648"/>
            <a:ext cx="548640" cy="548640"/>
          </a:xfrm>
          <a:prstGeom prst="ellipse">
            <a:avLst/>
          </a:prstGeom>
          <a:solidFill>
            <a:srgbClr val="E0265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0358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67512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 front of the guest, give change, record in the shift cash.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669280" y="3840480"/>
            <a:ext cx="5989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97880" y="4087368"/>
            <a:ext cx="548640" cy="548640"/>
          </a:xfrm>
          <a:prstGeom prst="ellipse">
            <a:avLst/>
          </a:prstGeom>
          <a:solidFill>
            <a:srgbClr val="8FA3B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245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bill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675120" y="4297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authorisation letter and move charges to the master account.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669280" y="5029200"/>
            <a:ext cx="5989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897880" y="5276088"/>
            <a:ext cx="548640" cy="548640"/>
          </a:xfrm>
          <a:prstGeom prst="ellipse">
            <a:avLst/>
          </a:prstGeom>
          <a:solidFill>
            <a:srgbClr val="E9B44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4132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7512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/ OTA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67512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is included and collect incidentals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3.2 · PMS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Departures screen and room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3017520"/>
          </a:xfrm>
          <a:prstGeom prst="roundRect">
            <a:avLst>
              <a:gd name="adj" fmla="val 2424"/>
            </a:avLst>
          </a:prstGeom>
          <a:solidFill>
            <a:srgbClr val="0F1A30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1109960" cy="411480"/>
          </a:xfrm>
          <a:prstGeom prst="rect">
            <a:avLst/>
          </a:prstGeom>
          <a:solidFill>
            <a:srgbClr val="1D2C4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36192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· Departures · Wed 07 Oct 2026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44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914400"/>
                <a:gridCol w="1737360"/>
                <a:gridCol w="173736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KZT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FB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Brown, 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to housekeeping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Akhmetova, 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6C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payment, print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Nurlan, 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Folio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Smith, 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7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minibar 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Chen, 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D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guest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FLOW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965960" cy="777240"/>
          </a:xfrm>
          <a:prstGeom prst="chevron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5029200"/>
            <a:ext cx="1965960" cy="777240"/>
          </a:xfrm>
          <a:prstGeom prst="chevron">
            <a:avLst/>
          </a:prstGeom>
          <a:solidFill>
            <a:srgbClr val="E026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97680" y="5029200"/>
            <a:ext cx="1965960" cy="777240"/>
          </a:xfrm>
          <a:prstGeom prst="chevron">
            <a:avLst/>
          </a:prstGeom>
          <a:solidFill>
            <a:srgbClr val="E9B4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Dirty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5029200"/>
            <a:ext cx="1965960" cy="777240"/>
          </a:xfrm>
          <a:prstGeom prst="chevron">
            <a:avLst/>
          </a:prstGeom>
          <a:solidFill>
            <a:srgbClr val="8FA3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3796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5029200"/>
            <a:ext cx="1965960" cy="777240"/>
          </a:xfrm>
          <a:prstGeom prst="chevron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921240" y="5029200"/>
            <a:ext cx="1965960" cy="777240"/>
          </a:xfrm>
          <a:prstGeom prst="chevron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87000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Clean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screen, fictional data. Real systems (Opera, Fidelio, Exely, Shelter) use the same logic.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3.2 · GUEST 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the guest profile at check-out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Akhmetova, Aigerim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304288"/>
            <a:ext cx="1737360" cy="256032"/>
          </a:xfrm>
          <a:prstGeom prst="rect">
            <a:avLst/>
          </a:prstGeom>
          <a:solidFill>
            <a:srgbClr val="E026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72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STAY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172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05–07 Oct 2026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57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238,400 KZT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657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PLAN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44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· Deluxe Twin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CONSENT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4544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5120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212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AND NOTES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floor, quiet room. Late check-out to 14:00 granted. Compliment: restaurant service.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UPDATE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19659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2084832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772400" y="1993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dates, room type and rate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132320" y="2697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2816352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772400" y="2724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and payment method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7132320" y="34290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547872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772400" y="3456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learned during the stay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7132320" y="41605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4279392"/>
            <a:ext cx="219456" cy="21945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772400" y="4187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and compliments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132320" y="48920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5010912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772400" y="4919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and consent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7132320" y="566928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14213D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833872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72400" y="5669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personal data only as the privacy policy allows.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3.2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Check-out dashboard: Wednesday, 07 Oct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 w="1587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 w="15875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 40 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desk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4173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E026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check-outs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4173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E0265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02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charges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834640"/>
          <a:ext cx="7223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001000" y="29260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7532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47472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11:00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agent on settlement.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late check-outs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policy at booking and at arrival.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disputed charges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minibar and parking posting.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3.3 · COMPLAINTS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HEARD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fully. Do not interrupt or defend.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 understand how the guest feels.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0352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Apologise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sorry for the experience, sincerely.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1554480"/>
            <a:ext cx="1371600" cy="1371600"/>
          </a:xfrm>
          <a:prstGeom prst="ellipse">
            <a:avLst/>
          </a:prstGeom>
          <a:solidFill>
            <a:srgbClr val="E02653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4380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fix within your authority, or escalate.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84080" y="1554480"/>
            <a:ext cx="1371600" cy="1371600"/>
          </a:xfrm>
          <a:prstGeom prst="ellipse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8408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cause so it does not repeat.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“Thank you for telling me. I am sorry about the noise. Let me see what I can do for you now.”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 is not our fault.” “You should have told us earlier.” “That is the policy.”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3.3 · 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log and escalation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2651760"/>
                <a:gridCol w="3657600"/>
                <a:gridCol w="182880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Minibar item charged, not consumed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with housekeeping; charge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 noise at 02:00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Apology; duty manager approved discount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room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check-out fee disputed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shown in booking confirmation; sent to FOM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2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LADDER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2651760" cy="173736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desk agent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29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Apologise, correct small errors, offer a small gesture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4251960"/>
            <a:ext cx="2651760" cy="2011680"/>
          </a:xfrm>
          <a:prstGeom prst="rect">
            <a:avLst/>
          </a:prstGeom>
          <a:solidFill>
            <a:srgbClr val="5C7AA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47872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manager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47872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discounts and room changes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1344" y="3977640"/>
            <a:ext cx="2651760" cy="22860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64224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office manager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64224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charges and repeated issues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97696" y="3703320"/>
            <a:ext cx="2651760" cy="25603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80576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manager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80576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incidents and major compensation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record for the production practice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and verify the guest folio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payment and issue the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folio and file the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out the guest in the PMS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the guest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a complaint using HEARD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the complaint in the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signature: ____________________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80960" y="1417320"/>
            <a:ext cx="3977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095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PLACEMENT LOG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Oct 2026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07:00–15:00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Altyn Zhol Hotel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manager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9560" y="3520440"/>
            <a:ext cx="356616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09560" y="36576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out 14 guests with the mentor.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6 folios before printing.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1 minor complaint (HEARD).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extra charge before printing.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ject-sauyt/18b28951-f5b9-5cdd-993c-58bea5f23092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2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documents. Accurate records. Calm service.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folio line by line, then settle and issue the receipt.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departure in the PMS and update the guest profile.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7490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D2C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3.3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389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HEARD, log the complaint and escalate when needed.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Photos: Mrkunmee (front desk) and Basile Morin (lobby), via Wikimedia Commons, CC BY-SA 4.0. All guests, hotels and figures in the samples are fictional.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Urban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3 Guest Check-out and Settlement</dc:title>
  <dc:subject>PptxGenJS Presentation</dc:subject>
  <dc:creator>Urban College</dc:creator>
  <cp:lastModifiedBy>Urban College</cp:lastModifiedBy>
  <cp:revision>1</cp:revision>
  <dcterms:created xsi:type="dcterms:W3CDTF">2026-10-08T05:03:10Z</dcterms:created>
  <dcterms:modified xsi:type="dcterms:W3CDTF">2026-10-08T05:03:10Z</dcterms:modified>
</cp:coreProperties>
</file>